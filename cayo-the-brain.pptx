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840480"/>
            <a:ext cx="2377440" cy="23774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-914400"/>
            <a:ext cx="1371600" cy="13716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spc="400" kern="0" dirty="0">
                <a:solidFill>
                  <a:srgbClr val="D4A574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CAYO · מסעדה ובר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המוח של האתר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ECE2D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איך הכל עובד מאחורי הקלעים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0" y="4343400"/>
            <a:ext cx="1645920" cy="0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מהלקוח → למסד הנתונים → חזרה למארחת — בשניות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0" y="4480560"/>
            <a:ext cx="2011680" cy="2011680"/>
          </a:xfrm>
          <a:prstGeom prst="ellipse">
            <a:avLst/>
          </a:prstGeom>
          <a:solidFill>
            <a:srgbClr val="D4A574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4754880"/>
            <a:ext cx="1463040" cy="146304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0" y="4754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מוח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 משתמש במערכת?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שלושה סוגי משתמשים — לכל אחד עולם משלו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83768" y="1920240"/>
            <a:ext cx="3291840" cy="3931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768" y="1920240"/>
            <a:ext cx="3291840" cy="1645920"/>
          </a:xfrm>
          <a:prstGeom prst="roundRect">
            <a:avLst>
              <a:gd name="adj" fmla="val 11111"/>
            </a:avLst>
          </a:prstGeom>
          <a:solidFill>
            <a:srgbClr val="A26769"/>
          </a:solidFill>
          <a:ln/>
        </p:spPr>
      </p:sp>
      <p:sp>
        <p:nvSpPr>
          <p:cNvPr id="7" name="Shape 5"/>
          <p:cNvSpPr/>
          <p:nvPr/>
        </p:nvSpPr>
        <p:spPr>
          <a:xfrm>
            <a:off x="883768" y="2743200"/>
            <a:ext cx="3291840" cy="8229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8" name="Shape 6"/>
          <p:cNvSpPr/>
          <p:nvPr/>
        </p:nvSpPr>
        <p:spPr>
          <a:xfrm>
            <a:off x="2026768" y="22402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6768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A2676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066648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המארחת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58088" y="4343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רואה את ההזמנות בזמן אמת,</a:t>
            </a:r>
            <a:endParaRPr lang="en-US" sz="1500" dirty="0"/>
          </a:p>
          <a:p>
            <a:pPr rtl="1" algn="ctr" indent="0" marL="0">
              <a:buNone/>
            </a:pPr>
            <a:r>
              <a:rPr lang="en-US" sz="15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מושיבה אורחים, מנהלת את הערב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49928" y="1920240"/>
            <a:ext cx="3291840" cy="3931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9928" y="1920240"/>
            <a:ext cx="3291840" cy="1645920"/>
          </a:xfrm>
          <a:prstGeom prst="roundRect">
            <a:avLst>
              <a:gd name="adj" fmla="val 11111"/>
            </a:avLst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9928" y="2743200"/>
            <a:ext cx="3291840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Shape 13"/>
          <p:cNvSpPr/>
          <p:nvPr/>
        </p:nvSpPr>
        <p:spPr>
          <a:xfrm>
            <a:off x="5592928" y="22402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1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2928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32808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הלקוח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24248" y="4343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נכנס לאתר, ממלא טופס הזמנה,</a:t>
            </a:r>
            <a:endParaRPr lang="en-US" sz="1500" dirty="0"/>
          </a:p>
          <a:p>
            <a:pPr rtl="1" algn="ctr" indent="0" marL="0">
              <a:buNone/>
            </a:pPr>
            <a:r>
              <a:rPr lang="en-US" sz="15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מקבל אישור באימייל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16088" y="1920240"/>
            <a:ext cx="3291840" cy="3931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6088" y="1920240"/>
            <a:ext cx="3291840" cy="1645920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6088" y="2743200"/>
            <a:ext cx="3291840" cy="8229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59088" y="22402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9088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198968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המנהל (אדמין)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90408" y="4343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שולט בכל — מפה, משמרות,</a:t>
            </a:r>
            <a:endParaRPr lang="en-US" sz="1500" dirty="0"/>
          </a:p>
          <a:p>
            <a:pPr rtl="1" algn="ctr" indent="0" marL="0">
              <a:buNone/>
            </a:pPr>
            <a:r>
              <a:rPr lang="en-US" sz="15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עובדים, דוחות ונתונים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התמונה הגדולה: שלוש שכבות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הדפדפן ↔ השרת ↔ מסד הנתונים — כך זורם מידע במערכת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2640" y="2267712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2B182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9488" y="219456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D4A574"/>
          </a:solidFill>
          <a:ln/>
        </p:spPr>
      </p:sp>
      <p:sp>
        <p:nvSpPr>
          <p:cNvPr id="7" name="Shape 5"/>
          <p:cNvSpPr/>
          <p:nvPr/>
        </p:nvSpPr>
        <p:spPr>
          <a:xfrm>
            <a:off x="2026768" y="2423160"/>
            <a:ext cx="822960" cy="82296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26768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29488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B182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הדפדפן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29488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 שהמשתמש רואה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608" y="4709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דפי HTML, טפסים ולחצנים — נבנים ב-Next.js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ומוצגים בפלאפון או במחשב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0240" y="2267712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2B1820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87088" y="219456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84368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87088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השרת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87088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המחליט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04208" y="4709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מקבל בקשות, בודק הרשאות, מבצע לוגיקה —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Next.js API Routes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17840" y="2267712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2B1820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44688" y="219456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3A7D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341968" y="2423160"/>
            <a:ext cx="822960" cy="82296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341968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3A7D7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244688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מסד הנתונים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44688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הזיכרון לטווח ארוך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61808" y="4709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שומר הזמנות, שולחנות, עובדים —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Supabase (Postgres)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92728" y="3063240"/>
            <a:ext cx="548640" cy="256032"/>
          </a:xfrm>
          <a:prstGeom prst="leftArrow">
            <a:avLst/>
          </a:prstGeom>
          <a:solidFill>
            <a:srgbClr val="6D2E46"/>
          </a:solidFill>
          <a:ln/>
        </p:spPr>
      </p:sp>
      <p:sp>
        <p:nvSpPr>
          <p:cNvPr id="27" name="Shape 25"/>
          <p:cNvSpPr/>
          <p:nvPr/>
        </p:nvSpPr>
        <p:spPr>
          <a:xfrm>
            <a:off x="3992728" y="3392424"/>
            <a:ext cx="548640" cy="256032"/>
          </a:xfrm>
          <a:prstGeom prst="rightArrow">
            <a:avLst/>
          </a:prstGeom>
          <a:solidFill>
            <a:srgbClr val="3A7D7B"/>
          </a:solidFill>
          <a:ln/>
        </p:spPr>
      </p:sp>
      <p:sp>
        <p:nvSpPr>
          <p:cNvPr id="28" name="Shape 26"/>
          <p:cNvSpPr/>
          <p:nvPr/>
        </p:nvSpPr>
        <p:spPr>
          <a:xfrm>
            <a:off x="7650328" y="3063240"/>
            <a:ext cx="548640" cy="256032"/>
          </a:xfrm>
          <a:prstGeom prst="leftArrow">
            <a:avLst/>
          </a:prstGeom>
          <a:solidFill>
            <a:srgbClr val="6D2E46"/>
          </a:solidFill>
          <a:ln/>
        </p:spPr>
      </p:sp>
      <p:sp>
        <p:nvSpPr>
          <p:cNvPr id="29" name="Shape 27"/>
          <p:cNvSpPr/>
          <p:nvPr/>
        </p:nvSpPr>
        <p:spPr>
          <a:xfrm>
            <a:off x="7650328" y="3392424"/>
            <a:ext cx="548640" cy="256032"/>
          </a:xfrm>
          <a:prstGeom prst="rightArrow">
            <a:avLst/>
          </a:prstGeom>
          <a:solidFill>
            <a:srgbClr val="3A7D7B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5989320"/>
            <a:ext cx="228600" cy="1371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97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בקשה ("תשמור לי את ההזמנה")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6217920"/>
            <a:ext cx="228600" cy="137160"/>
          </a:xfrm>
          <a:prstGeom prst="rect">
            <a:avLst/>
          </a:prstGeom>
          <a:solidFill>
            <a:srgbClr val="3A7D7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6126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תשובה ("נשמר, הנה מספר הזמנה")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מסע ההזמנה: מה קורה כשלקוח מזמין מקום?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מהלחיצה על "שלח" ועד האימייל — בלחיצה וחצי שנייה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29488" y="2880360"/>
            <a:ext cx="10332720" cy="54864"/>
          </a:xfrm>
          <a:prstGeom prst="rect">
            <a:avLst/>
          </a:prstGeom>
          <a:solidFill>
            <a:srgbClr val="D4A574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28936" y="2441448"/>
            <a:ext cx="877824" cy="877824"/>
          </a:xfrm>
          <a:prstGeom prst="ellipse">
            <a:avLst/>
          </a:prstGeom>
          <a:solidFill>
            <a:srgbClr val="6D2E4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8936" y="24414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616288" y="34747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448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ממלא טופס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73488" y="4160520"/>
            <a:ext cx="11887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448" y="4251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שם, תאריך, שעה,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מס' סועדים, בר/שולחן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42936" y="2441448"/>
            <a:ext cx="877824" cy="877824"/>
          </a:xfrm>
          <a:prstGeom prst="ellipse">
            <a:avLst/>
          </a:prstGeom>
          <a:solidFill>
            <a:srgbClr val="6D2E4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2936" y="24414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330288" y="34747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7448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בדיקת קיבולת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87488" y="4160520"/>
            <a:ext cx="11887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7448" y="4251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השרת בודק אם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יש מקום בשעה המבוקשת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56936" y="2441448"/>
            <a:ext cx="877824" cy="877824"/>
          </a:xfrm>
          <a:prstGeom prst="ellipse">
            <a:avLst/>
          </a:prstGeom>
          <a:solidFill>
            <a:srgbClr val="6D2E4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6936" y="24414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044288" y="34747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1448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שמירה במסד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01488" y="4160520"/>
            <a:ext cx="11887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1448" y="4251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נוצרת רשומה עם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סטטוס "ממתין"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70936" y="2441448"/>
            <a:ext cx="877824" cy="877824"/>
          </a:xfrm>
          <a:prstGeom prst="ellipse">
            <a:avLst/>
          </a:prstGeom>
          <a:solidFill>
            <a:srgbClr val="6D2E4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0936" y="24414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2758288" y="34747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5448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אימייל אישור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15488" y="4160520"/>
            <a:ext cx="11887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95448" y="4251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נשלח ללקוח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דרך שירות Resend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84936" y="2441448"/>
            <a:ext cx="877824" cy="877824"/>
          </a:xfrm>
          <a:prstGeom prst="ellipse">
            <a:avLst/>
          </a:prstGeom>
          <a:solidFill>
            <a:srgbClr val="6D2E4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4936" y="24414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72288" y="34747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448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המארחת רואה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29488" y="4160520"/>
            <a:ext cx="11887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448" y="4251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ההזמנה מופיעה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מיד על המסך שלה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97680" y="557784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0" y="5577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הכל קורה בפחות משנייה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הזיכרון של המערכת: מסד הנתונים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טבלה היא "מגירה" — לכל מידע יש מקום משלו ב-Supabase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83880" y="20116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2148840"/>
            <a:ext cx="91440" cy="1143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Shape 5"/>
          <p:cNvSpPr/>
          <p:nvPr/>
        </p:nvSpPr>
        <p:spPr>
          <a:xfrm>
            <a:off x="10506456" y="2372868"/>
            <a:ext cx="694944" cy="69494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10506456" y="23728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412480" y="2194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הזמנות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0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שם, תאריך, שעה, סועדים, סטטוס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0116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3A7D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2148840"/>
            <a:ext cx="91440" cy="1143000"/>
          </a:xfrm>
          <a:prstGeom prst="rect">
            <a:avLst/>
          </a:prstGeom>
          <a:solidFill>
            <a:srgbClr val="3A7D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2372868"/>
            <a:ext cx="694944" cy="694944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4" name="Text 12"/>
          <p:cNvSpPr/>
          <p:nvPr/>
        </p:nvSpPr>
        <p:spPr>
          <a:xfrm>
            <a:off x="6757416" y="23728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שולחנות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מספר, מושבים, מיקום על המפה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2148840"/>
            <a:ext cx="91440" cy="1143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Shape 17"/>
          <p:cNvSpPr/>
          <p:nvPr/>
        </p:nvSpPr>
        <p:spPr>
          <a:xfrm>
            <a:off x="3008376" y="2372868"/>
            <a:ext cx="694944" cy="694944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3008376" y="23728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" y="21945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רשימת המתנה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לקוחות שמחכים לשולחן פנוי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3657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0" y="3794760"/>
            <a:ext cx="91440" cy="11430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06456" y="4018788"/>
            <a:ext cx="694944" cy="69494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506456" y="40187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12480" y="38404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עובדים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0" y="429768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שמות, תפקידים, טלפונים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3657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3794760"/>
            <a:ext cx="91440" cy="1143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Shape 29"/>
          <p:cNvSpPr/>
          <p:nvPr/>
        </p:nvSpPr>
        <p:spPr>
          <a:xfrm>
            <a:off x="6757416" y="4018788"/>
            <a:ext cx="694944" cy="69494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40187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663440" y="38404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משמרות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מי עובד מתי ובאיזה תפקיד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3657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3A7D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3794760"/>
            <a:ext cx="91440" cy="1143000"/>
          </a:xfrm>
          <a:prstGeom prst="rect">
            <a:avLst/>
          </a:prstGeom>
          <a:solidFill>
            <a:srgbClr val="3A7D7B"/>
          </a:solidFill>
          <a:ln/>
        </p:spPr>
      </p:sp>
      <p:sp>
        <p:nvSpPr>
          <p:cNvPr id="37" name="Shape 35"/>
          <p:cNvSpPr/>
          <p:nvPr/>
        </p:nvSpPr>
        <p:spPr>
          <a:xfrm>
            <a:off x="3008376" y="4018788"/>
            <a:ext cx="694944" cy="694944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38" name="Text 36"/>
          <p:cNvSpPr/>
          <p:nvPr/>
        </p:nvSpPr>
        <p:spPr>
          <a:xfrm>
            <a:off x="3008376" y="40187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14400" y="38404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מפת המסעדה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400" y="429768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מיקום שולחנות, אזורים, סיבוב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5669280"/>
            <a:ext cx="10835640" cy="685800"/>
          </a:xfrm>
          <a:prstGeom prst="roundRect">
            <a:avLst>
              <a:gd name="adj" fmla="val 13333"/>
            </a:avLst>
          </a:prstGeom>
          <a:solidFill>
            <a:srgbClr val="1F1016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66928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ECE2D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הטבלאות מחוברות: לכל הזמנה יש שולחן, לכל שולחן יש מיקום, לכל משמרת יש עובדים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קסם הזמן-אמת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המארחת רואה שינויים מיד — בלי לרענן את הדף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01168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3A7D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2011680"/>
            <a:ext cx="3566160" cy="640080"/>
          </a:xfrm>
          <a:prstGeom prst="roundRect">
            <a:avLst>
              <a:gd name="adj" fmla="val 21429"/>
            </a:avLst>
          </a:prstGeom>
          <a:solidFill>
            <a:srgbClr val="3A7D7B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2331720"/>
            <a:ext cx="3566160" cy="320040"/>
          </a:xfrm>
          <a:prstGeom prst="rect">
            <a:avLst/>
          </a:prstGeom>
          <a:solidFill>
            <a:srgbClr val="3A7D7B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לקוח חדש שלח טופס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→ השרת מקבל הזמנה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→ נשמרת במסד הנתונים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→ נשלח איתות לכל המסכים הפתוחים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→ המסך מתעדכן מיד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521208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3A7D7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אפס רענון · אפס לחיצות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98110" y="2926080"/>
            <a:ext cx="2194560" cy="2194560"/>
          </a:xfrm>
          <a:prstGeom prst="ellipse">
            <a:avLst/>
          </a:prstGeom>
          <a:solidFill>
            <a:srgbClr val="D4A574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72430" y="3200400"/>
            <a:ext cx="1645920" cy="1645920"/>
          </a:xfrm>
          <a:prstGeom prst="ellipse">
            <a:avLst/>
          </a:prstGeom>
          <a:solidFill>
            <a:srgbClr val="D4A574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46750" y="3474720"/>
            <a:ext cx="1097280" cy="1097280"/>
          </a:xfrm>
          <a:prstGeom prst="ellipse">
            <a:avLst/>
          </a:prstGeom>
          <a:solidFill>
            <a:srgbClr val="D4A574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56478" y="3584448"/>
            <a:ext cx="877824" cy="877824"/>
          </a:xfrm>
          <a:prstGeom prst="ellipse">
            <a:avLst/>
          </a:prstGeom>
          <a:solidFill>
            <a:srgbClr val="6D2E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6478" y="35844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זרם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0667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זרם חי (SSE)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2011680"/>
            <a:ext cx="4023360" cy="4023360"/>
          </a:xfrm>
          <a:prstGeom prst="roundRect">
            <a:avLst>
              <a:gd name="adj" fmla="val 3409"/>
            </a:avLst>
          </a:prstGeom>
          <a:solidFill>
            <a:srgbClr val="1F101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מסך המארחת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256032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ECE2D0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28346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✓  דנה כהן · 20:00 · 4 סועדים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47472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✓  יוסי לוי · 20:30 · 2 סועדים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43000" y="411480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1148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✦  הזמנה חדשה נוספה!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7548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✓  מיכל דוד · 21:00 · 6 סועדים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שני מרכזי שליטה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מצב מארחת = מהיר ותפעולי  ·  מצב מנהל = שליטה מלאה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65215" y="1965960"/>
            <a:ext cx="544068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65215" y="1965960"/>
            <a:ext cx="5440680" cy="822960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7" name="Shape 5"/>
          <p:cNvSpPr/>
          <p:nvPr/>
        </p:nvSpPr>
        <p:spPr>
          <a:xfrm>
            <a:off x="6065215" y="2377440"/>
            <a:ext cx="5440680" cy="4114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8" name="Shape 6"/>
          <p:cNvSpPr/>
          <p:nvPr/>
        </p:nvSpPr>
        <p:spPr>
          <a:xfrm>
            <a:off x="10746943" y="21214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746943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39535" y="19659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מצב מארחת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91495" y="3063240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91495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93815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מפה חיה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3815" y="3364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לחיצה על שולחן → רואה מי יושב ומתי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91495" y="3867912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591495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93815" y="3822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תור הזמנות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3815" y="4169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ההזמנות של הערב, מסודרות לפי שעה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91495" y="4672584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591495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93815" y="4626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רשימת המתנה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93815" y="4974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הוספה מהירה של מחכים ושיוך לשולחן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91495" y="5477256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591495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93815" y="54315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סטטוס במגע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93815" y="5779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הגיע / ביטל / לא הופיע — בלחיצה אחת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1965960"/>
            <a:ext cx="544068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1965960"/>
            <a:ext cx="5440680" cy="822960"/>
          </a:xfrm>
          <a:prstGeom prst="roundRect">
            <a:avLst>
              <a:gd name="adj" fmla="val 22222"/>
            </a:avLst>
          </a:prstGeom>
          <a:solidFill>
            <a:srgbClr val="6D2E4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2377440"/>
            <a:ext cx="5440680" cy="411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Shape 28"/>
          <p:cNvSpPr/>
          <p:nvPr/>
        </p:nvSpPr>
        <p:spPr>
          <a:xfrm>
            <a:off x="5367528" y="2121408"/>
            <a:ext cx="512064" cy="512064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536752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0120" y="19659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מצב מנהל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212080" y="306324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דשבורד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400" y="3364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סטטיסטיקות, מספרים, מגמות בערב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2080" y="3867912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4400" y="3822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עורך מפה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4169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יצירה, סיבוב והזזה של שולחנות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12080" y="4672584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0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4626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משמרות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4974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לוח זמנים של העובדים + יצוא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212080" y="5477256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54315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עובדים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14400" y="5779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הוספה, עריכה, תפקידים עיקריים ומשניים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שומר על הכל בטוח?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ארבע שכבות הגנה בין הלקוח למידע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5080" y="2057400"/>
            <a:ext cx="53492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235458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0561320" y="23545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התחברות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8803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אדמין ומארחות מתחברים עם סיסמה (NextAuth).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53492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354580"/>
            <a:ext cx="822960" cy="8229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3545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הגבלת קצב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8803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אי אפשר לשלוח 1000 הזמנות בשנייה — הגנה מבוטים.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251960"/>
            <a:ext cx="53492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A7D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61320" y="4549140"/>
            <a:ext cx="822960" cy="82296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61320" y="45491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29400" y="4526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חסימת מסד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50749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המסד סגור — רק השרת רשאי לגעת בו (Row-Level Security).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53492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4549140"/>
            <a:ext cx="822960" cy="8229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45491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60120" y="4526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בדיקת נתונים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50749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182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טופס נבדק פעמיים: בדפדפן ובשרת (Zod).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הסיפור השלם — בתמונה אחת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ECE2D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מהרגע שלקוח נכנס לאתר — ועד שהוא יושב ליד השולחן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41768" y="2103120"/>
            <a:ext cx="2194560" cy="1280160"/>
          </a:xfrm>
          <a:prstGeom prst="roundRect">
            <a:avLst>
              <a:gd name="adj" fmla="val 12857"/>
            </a:avLst>
          </a:prstGeom>
          <a:solidFill>
            <a:srgbClr val="D4A574"/>
          </a:solidFill>
          <a:ln/>
        </p:spPr>
      </p:sp>
      <p:sp>
        <p:nvSpPr>
          <p:cNvPr id="6" name="Shape 4"/>
          <p:cNvSpPr/>
          <p:nvPr/>
        </p:nvSpPr>
        <p:spPr>
          <a:xfrm>
            <a:off x="8546440" y="2221992"/>
            <a:ext cx="585216" cy="585216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4644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41768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B182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הלקוח באתר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38848" y="2560320"/>
            <a:ext cx="457200" cy="365760"/>
          </a:xfrm>
          <a:prstGeom prst="leftArrow">
            <a:avLst/>
          </a:prstGeom>
          <a:solidFill>
            <a:srgbClr val="ECE2D0"/>
          </a:solidFill>
          <a:ln/>
        </p:spPr>
      </p:sp>
      <p:sp>
        <p:nvSpPr>
          <p:cNvPr id="10" name="Shape 8"/>
          <p:cNvSpPr/>
          <p:nvPr/>
        </p:nvSpPr>
        <p:spPr>
          <a:xfrm>
            <a:off x="4998568" y="2103120"/>
            <a:ext cx="2194560" cy="1280160"/>
          </a:xfrm>
          <a:prstGeom prst="roundRect">
            <a:avLst>
              <a:gd name="adj" fmla="val 12857"/>
            </a:avLst>
          </a:prstGeom>
          <a:solidFill>
            <a:srgbClr val="A26769"/>
          </a:solidFill>
          <a:ln/>
        </p:spPr>
      </p:sp>
      <p:sp>
        <p:nvSpPr>
          <p:cNvPr id="11" name="Shape 9"/>
          <p:cNvSpPr/>
          <p:nvPr/>
        </p:nvSpPr>
        <p:spPr>
          <a:xfrm>
            <a:off x="5803240" y="2221992"/>
            <a:ext cx="585216" cy="585216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0324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ט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98568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שולח טופס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95648" y="2560320"/>
            <a:ext cx="457200" cy="365760"/>
          </a:xfrm>
          <a:prstGeom prst="leftArrow">
            <a:avLst/>
          </a:prstGeom>
          <a:solidFill>
            <a:srgbClr val="ECE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55368" y="2103120"/>
            <a:ext cx="2194560" cy="1280160"/>
          </a:xfrm>
          <a:prstGeom prst="roundRect">
            <a:avLst>
              <a:gd name="adj" fmla="val 12857"/>
            </a:avLst>
          </a:prstGeom>
          <a:solidFill>
            <a:srgbClr val="6D2E46"/>
          </a:solidFill>
          <a:ln/>
        </p:spPr>
      </p:sp>
      <p:sp>
        <p:nvSpPr>
          <p:cNvPr id="16" name="Shape 14"/>
          <p:cNvSpPr/>
          <p:nvPr/>
        </p:nvSpPr>
        <p:spPr>
          <a:xfrm>
            <a:off x="3060040" y="2221992"/>
            <a:ext cx="585216" cy="585216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6004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255368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בדיקה בשרת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52648" y="3383280"/>
            <a:ext cx="0" cy="960120"/>
          </a:xfrm>
          <a:prstGeom prst="line">
            <a:avLst/>
          </a:prstGeom>
          <a:noFill/>
          <a:ln w="38100">
            <a:solidFill>
              <a:srgbClr val="EC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9768" y="3886200"/>
            <a:ext cx="365760" cy="457200"/>
          </a:xfrm>
          <a:prstGeom prst="downArrow">
            <a:avLst/>
          </a:prstGeom>
          <a:solidFill>
            <a:srgbClr val="D4A574"/>
          </a:solidFill>
          <a:ln/>
        </p:spPr>
      </p:sp>
      <p:sp>
        <p:nvSpPr>
          <p:cNvPr id="21" name="Shape 19"/>
          <p:cNvSpPr/>
          <p:nvPr/>
        </p:nvSpPr>
        <p:spPr>
          <a:xfrm>
            <a:off x="2255368" y="4389120"/>
            <a:ext cx="2194560" cy="1280160"/>
          </a:xfrm>
          <a:prstGeom prst="roundRect">
            <a:avLst>
              <a:gd name="adj" fmla="val 12857"/>
            </a:avLst>
          </a:prstGeom>
          <a:solidFill>
            <a:srgbClr val="3A7D7B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0040" y="4507992"/>
            <a:ext cx="585216" cy="585216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060040" y="4507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3A7D7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255368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שמירה במסד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495648" y="4846320"/>
            <a:ext cx="457200" cy="365760"/>
          </a:xfrm>
          <a:prstGeom prst="rightArrow">
            <a:avLst/>
          </a:prstGeom>
          <a:solidFill>
            <a:srgbClr val="ECE2D0"/>
          </a:solidFill>
          <a:ln/>
        </p:spPr>
      </p:sp>
      <p:sp>
        <p:nvSpPr>
          <p:cNvPr id="26" name="Shape 24"/>
          <p:cNvSpPr/>
          <p:nvPr/>
        </p:nvSpPr>
        <p:spPr>
          <a:xfrm>
            <a:off x="4998568" y="4389120"/>
            <a:ext cx="2194560" cy="1280160"/>
          </a:xfrm>
          <a:prstGeom prst="roundRect">
            <a:avLst>
              <a:gd name="adj" fmla="val 12857"/>
            </a:avLst>
          </a:prstGeom>
          <a:solidFill>
            <a:srgbClr val="A26769"/>
          </a:solidFill>
          <a:ln/>
        </p:spPr>
      </p:sp>
      <p:sp>
        <p:nvSpPr>
          <p:cNvPr id="27" name="Shape 25"/>
          <p:cNvSpPr/>
          <p:nvPr/>
        </p:nvSpPr>
        <p:spPr>
          <a:xfrm>
            <a:off x="5803240" y="4507992"/>
            <a:ext cx="585216" cy="585216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03240" y="4507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98568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מייל + זרם חי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38848" y="4846320"/>
            <a:ext cx="457200" cy="365760"/>
          </a:xfrm>
          <a:prstGeom prst="rightArrow">
            <a:avLst/>
          </a:prstGeom>
          <a:solidFill>
            <a:srgbClr val="ECE2D0"/>
          </a:solidFill>
          <a:ln/>
        </p:spPr>
      </p:sp>
      <p:sp>
        <p:nvSpPr>
          <p:cNvPr id="31" name="Shape 29"/>
          <p:cNvSpPr/>
          <p:nvPr/>
        </p:nvSpPr>
        <p:spPr>
          <a:xfrm>
            <a:off x="7741768" y="4389120"/>
            <a:ext cx="2194560" cy="1280160"/>
          </a:xfrm>
          <a:prstGeom prst="roundRect">
            <a:avLst>
              <a:gd name="adj" fmla="val 12857"/>
            </a:avLst>
          </a:prstGeom>
          <a:solidFill>
            <a:srgbClr val="D4A574"/>
          </a:solidFill>
          <a:ln/>
        </p:spPr>
      </p:sp>
      <p:sp>
        <p:nvSpPr>
          <p:cNvPr id="32" name="Shape 30"/>
          <p:cNvSpPr/>
          <p:nvPr/>
        </p:nvSpPr>
        <p:spPr>
          <a:xfrm>
            <a:off x="8546440" y="4507992"/>
            <a:ext cx="585216" cy="585216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546440" y="4507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741768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B182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המארחת מקבלת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286000" y="5989320"/>
            <a:ext cx="7589520" cy="594360"/>
          </a:xfrm>
          <a:prstGeom prst="roundRect">
            <a:avLst>
              <a:gd name="adj" fmla="val 53846"/>
            </a:avLst>
          </a:prstGeom>
          <a:solidFill>
            <a:srgbClr val="6D2E46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5989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מקצה לקצה: פחות משנייה — וכל הצדדים רואים את זה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המוח של CAYO — בקצרה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החלקים מדברים זה עם זה — 24/7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69510" y="2468880"/>
            <a:ext cx="2651760" cy="2651760"/>
          </a:xfrm>
          <a:prstGeom prst="ellipse">
            <a:avLst/>
          </a:prstGeom>
          <a:solidFill>
            <a:srgbClr val="D4A57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26710" y="2926080"/>
            <a:ext cx="1737360" cy="1737360"/>
          </a:xfrm>
          <a:prstGeom prst="ellipse">
            <a:avLst/>
          </a:prstGeom>
          <a:solidFill>
            <a:srgbClr val="6D2E46"/>
          </a:solidFill>
          <a:ln w="381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2671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CAYO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2671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390" y="3794760"/>
            <a:ext cx="0" cy="-1783080"/>
          </a:xfrm>
          <a:prstGeom prst="line">
            <a:avLst/>
          </a:prstGeom>
          <a:noFill/>
          <a:ln w="12700">
            <a:solidFill>
              <a:srgbClr val="7A6B5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592470" y="1508760"/>
            <a:ext cx="1005840" cy="1005840"/>
          </a:xfrm>
          <a:prstGeom prst="ellipse">
            <a:avLst/>
          </a:prstGeom>
          <a:solidFill>
            <a:srgbClr val="D4A5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247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9811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לקוחות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390" y="3794760"/>
            <a:ext cx="3017520" cy="-914400"/>
          </a:xfrm>
          <a:prstGeom prst="line">
            <a:avLst/>
          </a:prstGeom>
          <a:noFill/>
          <a:ln w="12700">
            <a:solidFill>
              <a:srgbClr val="7A6B5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09990" y="2377440"/>
            <a:ext cx="1005840" cy="1005840"/>
          </a:xfrm>
          <a:prstGeom prst="ellipse">
            <a:avLst/>
          </a:prstGeom>
          <a:solidFill>
            <a:srgbClr val="A267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999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1563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מארחות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390" y="3794760"/>
            <a:ext cx="3017520" cy="914400"/>
          </a:xfrm>
          <a:prstGeom prst="line">
            <a:avLst/>
          </a:prstGeom>
          <a:noFill/>
          <a:ln w="12700">
            <a:solidFill>
              <a:srgbClr val="7A6B5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609990" y="4206240"/>
            <a:ext cx="1005840" cy="100584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999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D4A57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015630" y="5285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אדמינים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5390" y="3794760"/>
            <a:ext cx="0" cy="1600200"/>
          </a:xfrm>
          <a:prstGeom prst="line">
            <a:avLst/>
          </a:prstGeom>
          <a:noFill/>
          <a:ln w="12700">
            <a:solidFill>
              <a:srgbClr val="7A6B5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592470" y="4892040"/>
            <a:ext cx="1005840" cy="1005840"/>
          </a:xfrm>
          <a:prstGeom prst="ellipse">
            <a:avLst/>
          </a:prstGeom>
          <a:solidFill>
            <a:srgbClr val="3A7D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2470" y="4892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998110" y="5971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מסד נתונים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95390" y="3794760"/>
            <a:ext cx="-3017520" cy="914400"/>
          </a:xfrm>
          <a:prstGeom prst="line">
            <a:avLst/>
          </a:prstGeom>
          <a:noFill/>
          <a:ln w="12700">
            <a:solidFill>
              <a:srgbClr val="7A6B5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574950" y="4206240"/>
            <a:ext cx="1005840" cy="1005840"/>
          </a:xfrm>
          <a:prstGeom prst="ellipse">
            <a:avLst/>
          </a:prstGeom>
          <a:solidFill>
            <a:srgbClr val="A267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495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980590" y="5285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מייל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5390" y="3794760"/>
            <a:ext cx="-3017520" cy="-914400"/>
          </a:xfrm>
          <a:prstGeom prst="line">
            <a:avLst/>
          </a:prstGeom>
          <a:noFill/>
          <a:ln w="12700">
            <a:solidFill>
              <a:srgbClr val="7A6B5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574950" y="2377440"/>
            <a:ext cx="1005840" cy="1005840"/>
          </a:xfrm>
          <a:prstGeom prst="ellipse">
            <a:avLst/>
          </a:prstGeom>
          <a:solidFill>
            <a:srgbClr val="D4A5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495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98059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זרם חי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המוח של CAYO  ·  איך האתר עובד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5D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CAYO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המוח של CAYO</dc:title>
  <dc:subject>PptxGenJS Presentation</dc:subject>
  <dc:creator>PptxGenJS</dc:creator>
  <cp:lastModifiedBy>PptxGenJS</cp:lastModifiedBy>
  <cp:revision>1</cp:revision>
  <dcterms:created xsi:type="dcterms:W3CDTF">2026-04-22T18:08:39Z</dcterms:created>
  <dcterms:modified xsi:type="dcterms:W3CDTF">2026-04-22T18:08:39Z</dcterms:modified>
</cp:coreProperties>
</file>